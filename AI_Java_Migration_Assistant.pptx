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3A2A1F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97680"/>
            <a:ext cx="4023360" cy="4023360"/>
          </a:xfrm>
          <a:prstGeom prst="ellipse">
            <a:avLst/>
          </a:prstGeom>
          <a:solidFill>
            <a:srgbClr val="3A2A1F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566928" cy="566928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7589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JAVA MIGRATION ASSISTANT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D9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migration assessment, dependency analysis, and</a:t>
            </a:r>
            <a:endParaRPr lang="en-US" sz="16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D9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upgrade planning — powered by AI.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1298448" cy="384048"/>
          </a:xfrm>
          <a:prstGeom prst="roundRect">
            <a:avLst>
              <a:gd name="adj" fmla="val 19048"/>
            </a:avLst>
          </a:prstGeom>
          <a:solidFill>
            <a:srgbClr val="3A2A1F"/>
          </a:solidFill>
          <a:ln w="12700">
            <a:solidFill>
              <a:srgbClr val="ED8B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70916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3.12+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4709160"/>
            <a:ext cx="864108" cy="384048"/>
          </a:xfrm>
          <a:prstGeom prst="roundRect">
            <a:avLst>
              <a:gd name="adj" fmla="val 19048"/>
            </a:avLst>
          </a:prstGeom>
          <a:solidFill>
            <a:srgbClr val="3A2A1F"/>
          </a:solidFill>
          <a:ln w="12700">
            <a:solidFill>
              <a:srgbClr val="ED8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4709160"/>
            <a:ext cx="8641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14700" y="4709160"/>
            <a:ext cx="1298448" cy="384048"/>
          </a:xfrm>
          <a:prstGeom prst="roundRect">
            <a:avLst>
              <a:gd name="adj" fmla="val 19048"/>
            </a:avLst>
          </a:prstGeom>
          <a:solidFill>
            <a:srgbClr val="3A2A1F"/>
          </a:solidFill>
          <a:ln w="12700">
            <a:solidFill>
              <a:srgbClr val="ED8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4700" y="470916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→ 21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77740" y="4709160"/>
            <a:ext cx="1732788" cy="384048"/>
          </a:xfrm>
          <a:prstGeom prst="roundRect">
            <a:avLst>
              <a:gd name="adj" fmla="val 19048"/>
            </a:avLst>
          </a:prstGeom>
          <a:solidFill>
            <a:srgbClr val="3A2A1F"/>
          </a:solidFill>
          <a:ln w="12700">
            <a:solidFill>
              <a:srgbClr val="ED8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7740" y="4709160"/>
            <a:ext cx="17327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3.3.4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75120" y="4709160"/>
            <a:ext cx="1385316" cy="384048"/>
          </a:xfrm>
          <a:prstGeom prst="roundRect">
            <a:avLst>
              <a:gd name="adj" fmla="val 19048"/>
            </a:avLst>
          </a:prstGeom>
          <a:solidFill>
            <a:srgbClr val="3A2A1F"/>
          </a:solidFill>
          <a:ln w="12700">
            <a:solidFill>
              <a:srgbClr val="ED8B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4709160"/>
            <a:ext cx="13853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Central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5028" y="4709160"/>
            <a:ext cx="777240" cy="384048"/>
          </a:xfrm>
          <a:prstGeom prst="roundRect">
            <a:avLst>
              <a:gd name="adj" fmla="val 19048"/>
            </a:avLst>
          </a:prstGeom>
          <a:solidFill>
            <a:srgbClr val="3A2A1F"/>
          </a:solidFill>
          <a:ln w="12700">
            <a:solidFill>
              <a:srgbClr val="ED8B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5028" y="470916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modernization • Full audit trail • Zero manual research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Migrating Java 11 → 21 is not a one-line version bump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83864" cy="1737360"/>
          </a:xfrm>
          <a:prstGeom prst="roundRect">
            <a:avLst>
              <a:gd name="adj" fmla="val 3158"/>
            </a:avLst>
          </a:prstGeom>
          <a:solidFill>
            <a:srgbClr val="FBF7F1"/>
          </a:solidFill>
          <a:ln w="12700">
            <a:solidFill>
              <a:srgbClr val="EEE2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01368"/>
            <a:ext cx="384048" cy="384048"/>
          </a:xfrm>
          <a:prstGeom prst="ellipse">
            <a:avLst/>
          </a:prstGeom>
          <a:solidFill>
            <a:srgbClr val="231712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2313432"/>
            <a:ext cx="3081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javax → jakarta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624328"/>
            <a:ext cx="3081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imports across the codebase need renaming, one namespace at a time.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52544" y="1600200"/>
            <a:ext cx="3483864" cy="1737360"/>
          </a:xfrm>
          <a:prstGeom prst="roundRect">
            <a:avLst>
              <a:gd name="adj" fmla="val 3158"/>
            </a:avLst>
          </a:prstGeom>
          <a:solidFill>
            <a:srgbClr val="FBF7F1"/>
          </a:solidFill>
          <a:ln w="12700">
            <a:solidFill>
              <a:srgbClr val="EEE2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1801368"/>
            <a:ext cx="384048" cy="384048"/>
          </a:xfrm>
          <a:prstGeom prst="ellipse">
            <a:avLst/>
          </a:prstGeom>
          <a:solidFill>
            <a:srgbClr val="231712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53712" y="2313432"/>
            <a:ext cx="3081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2 → 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53712" y="2624328"/>
            <a:ext cx="3081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APIs break; WebSecurityConfigurerAdapter is removed entirely in Spring Security 6.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56448" y="1600200"/>
            <a:ext cx="3483864" cy="1737360"/>
          </a:xfrm>
          <a:prstGeom prst="roundRect">
            <a:avLst>
              <a:gd name="adj" fmla="val 3158"/>
            </a:avLst>
          </a:prstGeom>
          <a:solidFill>
            <a:srgbClr val="FBF7F1"/>
          </a:solidFill>
          <a:ln w="12700">
            <a:solidFill>
              <a:srgbClr val="EEE2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57616" y="1801368"/>
            <a:ext cx="384048" cy="384048"/>
          </a:xfrm>
          <a:prstGeom prst="ellipse">
            <a:avLst/>
          </a:prstGeom>
          <a:solidFill>
            <a:srgbClr val="231712"/>
          </a:solidFill>
          <a:ln/>
        </p:spPr>
      </p:sp>
      <p:sp>
        <p:nvSpPr>
          <p:cNvPr id="16" name="Text 14"/>
          <p:cNvSpPr/>
          <p:nvPr/>
        </p:nvSpPr>
        <p:spPr>
          <a:xfrm>
            <a:off x="8357616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57616" y="2313432"/>
            <a:ext cx="3081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4 → JUnit 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57616" y="2624328"/>
            <a:ext cx="3081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 and Assert.* calls no longer compile under the new test engine.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611880"/>
            <a:ext cx="3483864" cy="1737360"/>
          </a:xfrm>
          <a:prstGeom prst="roundRect">
            <a:avLst>
              <a:gd name="adj" fmla="val 3158"/>
            </a:avLst>
          </a:prstGeom>
          <a:solidFill>
            <a:srgbClr val="FBF7F1"/>
          </a:solidFill>
          <a:ln w="12700">
            <a:solidFill>
              <a:srgbClr val="EEE2C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3813048"/>
            <a:ext cx="384048" cy="384048"/>
          </a:xfrm>
          <a:prstGeom prst="ellipse">
            <a:avLst/>
          </a:prstGeom>
          <a:solidFill>
            <a:srgbClr val="231712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794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9808" y="4325112"/>
            <a:ext cx="3081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research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9808" y="4636008"/>
            <a:ext cx="3081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of Maven dependencies each need a manually researched, compatible version.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52544" y="3611880"/>
            <a:ext cx="3483864" cy="1737360"/>
          </a:xfrm>
          <a:prstGeom prst="roundRect">
            <a:avLst>
              <a:gd name="adj" fmla="val 3158"/>
            </a:avLst>
          </a:prstGeom>
          <a:solidFill>
            <a:srgbClr val="FBF7F1"/>
          </a:solidFill>
          <a:ln w="12700">
            <a:solidFill>
              <a:srgbClr val="EEE2C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53712" y="3813048"/>
            <a:ext cx="384048" cy="384048"/>
          </a:xfrm>
          <a:prstGeom prst="ellipse">
            <a:avLst/>
          </a:prstGeom>
          <a:solidFill>
            <a:srgbClr val="231712"/>
          </a:solidFill>
          <a:ln/>
        </p:spPr>
      </p:sp>
      <p:sp>
        <p:nvSpPr>
          <p:cNvPr id="26" name="Text 24"/>
          <p:cNvSpPr/>
          <p:nvPr/>
        </p:nvSpPr>
        <p:spPr>
          <a:xfrm>
            <a:off x="4553712" y="3794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53712" y="4325112"/>
            <a:ext cx="3081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plugin drift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53712" y="4636008"/>
            <a:ext cx="3081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 need reconfiguration for the modern &lt;release&gt; compiler flag.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56448" y="3611880"/>
            <a:ext cx="3483864" cy="1737360"/>
          </a:xfrm>
          <a:prstGeom prst="roundRect">
            <a:avLst>
              <a:gd name="adj" fmla="val 3158"/>
            </a:avLst>
          </a:prstGeom>
          <a:solidFill>
            <a:srgbClr val="FBF7F1"/>
          </a:solidFill>
          <a:ln w="12700">
            <a:solidFill>
              <a:srgbClr val="EEE2C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57616" y="3813048"/>
            <a:ext cx="384048" cy="384048"/>
          </a:xfrm>
          <a:prstGeom prst="ellipse">
            <a:avLst/>
          </a:prstGeom>
          <a:solidFill>
            <a:srgbClr val="231712"/>
          </a:solidFill>
          <a:ln/>
        </p:spPr>
      </p:sp>
      <p:sp>
        <p:nvSpPr>
          <p:cNvPr id="31" name="Text 29"/>
          <p:cNvSpPr/>
          <p:nvPr/>
        </p:nvSpPr>
        <p:spPr>
          <a:xfrm>
            <a:off x="8357616" y="3794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357616" y="4325112"/>
            <a:ext cx="3081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breakage risk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57616" y="4636008"/>
            <a:ext cx="3081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hand-made change risks quietly breaking the application in production.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enterprise codebases with hundreds of files, this takes experienced engineers days or weeks — and is still error-prone.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— The Problem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686800" y="6510528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Java Migration Assistant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a ZIP. Get back a fully assessed, refactored, and documented project.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3A2A1F"/>
          </a:solidFill>
          <a:ln w="12700">
            <a:solidFill>
              <a:srgbClr val="4A37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488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8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9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Maven or Gradle project ZIP, validated for structure and Java ≥ 11.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172968" y="3337560"/>
            <a:ext cx="192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83280" y="19659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3A2A1F"/>
          </a:solidFill>
          <a:ln w="12700">
            <a:solidFill>
              <a:srgbClr val="4A37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21488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8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66160" y="28346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324612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9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9-section migration assessment with risk scoring and refactor signals.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07608" y="3337560"/>
            <a:ext cx="192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17920" y="19659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3A2A1F"/>
          </a:solidFill>
          <a:ln w="12700">
            <a:solidFill>
              <a:srgbClr val="4A37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1488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8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00800" y="28346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324612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9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pom.xml auto-updated; 26 transformation rules applied to Java sources.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842248" y="3337560"/>
            <a:ext cx="192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052560" y="19659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3A2A1F"/>
          </a:solidFill>
          <a:ln w="12700">
            <a:solidFill>
              <a:srgbClr val="4A37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0" y="21488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8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235440" y="28346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35440" y="324612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9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HTML change report — every file, rule, and version bump — full audit trail.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5623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research. No missed imports. No forgotten dependency upgrades.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A9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— The Solution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86800" y="6510528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9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Java Migration Assistant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This For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— Audience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6510528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Java Migration Assistant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1170432"/>
          </a:xfrm>
          <a:prstGeom prst="roundRect">
            <a:avLst>
              <a:gd name="adj" fmla="val 4688"/>
            </a:avLst>
          </a:prstGeom>
          <a:solidFill>
            <a:srgbClr val="FBF7F1"/>
          </a:solidFill>
          <a:ln w="12700">
            <a:solidFill>
              <a:srgbClr val="EEE2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682496"/>
            <a:ext cx="640080" cy="640080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6642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👩‍💻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737360" y="158191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Developers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120640" y="1417320"/>
            <a:ext cx="6217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mechanical parts of a Java 21 upgrade.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715768"/>
            <a:ext cx="1106424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EE2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2980944"/>
            <a:ext cx="640080" cy="640080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296265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737360" y="2880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120640" y="2715768"/>
            <a:ext cx="6217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migration complexity before committing to a sprint.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014216"/>
            <a:ext cx="11064240" cy="1170432"/>
          </a:xfrm>
          <a:prstGeom prst="roundRect">
            <a:avLst>
              <a:gd name="adj" fmla="val 4688"/>
            </a:avLst>
          </a:prstGeom>
          <a:solidFill>
            <a:srgbClr val="FBF7F1"/>
          </a:solidFill>
          <a:ln w="12700">
            <a:solidFill>
              <a:srgbClr val="EEE2C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4279392"/>
            <a:ext cx="640080" cy="640080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426110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37360" y="417880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Teams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120640" y="4014216"/>
            <a:ext cx="6217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multiple projects consistently, with full audit reports.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312664"/>
            <a:ext cx="1106424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EE2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5577840"/>
            <a:ext cx="640080" cy="640080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55595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737360" y="547725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Judges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120640" y="5312664"/>
            <a:ext cx="6217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with a live API and interactive HTML dashboards.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implemented capabilities across ingestion, analysis, and refactoring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— Features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510528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Java Migration Assistant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697480" cy="1417320"/>
          </a:xfrm>
          <a:prstGeom prst="roundRect">
            <a:avLst>
              <a:gd name="adj" fmla="val 3871"/>
            </a:avLst>
          </a:prstGeom>
          <a:solidFill>
            <a:srgbClr val="FBF7F1"/>
          </a:solidFill>
          <a:ln w="12700">
            <a:solidFill>
              <a:srgbClr val="EEE2C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581912"/>
            <a:ext cx="384048" cy="384048"/>
          </a:xfrm>
          <a:prstGeom prst="ellipse">
            <a:avLst/>
          </a:prstGeom>
          <a:solidFill>
            <a:srgbClr val="231712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563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3232" y="2057400"/>
            <a:ext cx="2368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ZIP Upload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13232" y="2359152"/>
            <a:ext cx="23682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any Maven/Gradle project as a .zip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1417320"/>
            <a:ext cx="2697480" cy="1417320"/>
          </a:xfrm>
          <a:prstGeom prst="roundRect">
            <a:avLst>
              <a:gd name="adj" fmla="val 3871"/>
            </a:avLst>
          </a:prstGeom>
          <a:solidFill>
            <a:srgbClr val="FBF7F1"/>
          </a:solidFill>
          <a:ln w="12700">
            <a:solidFill>
              <a:srgbClr val="EEE2C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02152" y="1581912"/>
            <a:ext cx="384048" cy="384048"/>
          </a:xfrm>
          <a:prstGeom prst="ellipse">
            <a:avLst/>
          </a:prstGeom>
          <a:solidFill>
            <a:srgbClr val="231712"/>
          </a:solidFill>
          <a:ln/>
        </p:spPr>
      </p:sp>
      <p:sp>
        <p:nvSpPr>
          <p:cNvPr id="13" name="Text 11"/>
          <p:cNvSpPr/>
          <p:nvPr/>
        </p:nvSpPr>
        <p:spPr>
          <a:xfrm>
            <a:off x="3502152" y="1563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02152" y="2057400"/>
            <a:ext cx="2368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Validation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502152" y="2359152"/>
            <a:ext cx="23682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structure, magic bytes, build files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417320"/>
            <a:ext cx="2697480" cy="1417320"/>
          </a:xfrm>
          <a:prstGeom prst="roundRect">
            <a:avLst>
              <a:gd name="adj" fmla="val 3871"/>
            </a:avLst>
          </a:prstGeom>
          <a:solidFill>
            <a:srgbClr val="FBF7F1"/>
          </a:solidFill>
          <a:ln w="12700">
            <a:solidFill>
              <a:srgbClr val="EEE2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91072" y="1581912"/>
            <a:ext cx="384048" cy="384048"/>
          </a:xfrm>
          <a:prstGeom prst="ellipse">
            <a:avLst/>
          </a:prstGeom>
          <a:solidFill>
            <a:srgbClr val="231712"/>
          </a:solidFill>
          <a:ln/>
        </p:spPr>
      </p:sp>
      <p:sp>
        <p:nvSpPr>
          <p:cNvPr id="18" name="Text 16"/>
          <p:cNvSpPr/>
          <p:nvPr/>
        </p:nvSpPr>
        <p:spPr>
          <a:xfrm>
            <a:off x="6291072" y="1563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91072" y="2057400"/>
            <a:ext cx="2368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Version Detection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91072" y="2359152"/>
            <a:ext cx="23682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pom.xml properties &amp; compiler plugin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915400" y="1417320"/>
            <a:ext cx="2697480" cy="1417320"/>
          </a:xfrm>
          <a:prstGeom prst="roundRect">
            <a:avLst>
              <a:gd name="adj" fmla="val 3871"/>
            </a:avLst>
          </a:prstGeom>
          <a:solidFill>
            <a:srgbClr val="FBF7F1"/>
          </a:solidFill>
          <a:ln w="12700">
            <a:solidFill>
              <a:srgbClr val="EEE2C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79992" y="1581912"/>
            <a:ext cx="384048" cy="384048"/>
          </a:xfrm>
          <a:prstGeom prst="ellipse">
            <a:avLst/>
          </a:prstGeom>
          <a:solidFill>
            <a:srgbClr val="231712"/>
          </a:solidFill>
          <a:ln/>
        </p:spPr>
      </p:sp>
      <p:sp>
        <p:nvSpPr>
          <p:cNvPr id="23" name="Text 21"/>
          <p:cNvSpPr/>
          <p:nvPr/>
        </p:nvSpPr>
        <p:spPr>
          <a:xfrm>
            <a:off x="9079992" y="1563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079992" y="2057400"/>
            <a:ext cx="2368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&amp; Gradle Support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079992" y="2359152"/>
            <a:ext cx="23682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pom.xml and build.gradle(.kts)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2962656"/>
            <a:ext cx="2697480" cy="1417320"/>
          </a:xfrm>
          <a:prstGeom prst="roundRect">
            <a:avLst>
              <a:gd name="adj" fmla="val 3871"/>
            </a:avLst>
          </a:prstGeom>
          <a:solidFill>
            <a:srgbClr val="FBF7F1"/>
          </a:solidFill>
          <a:ln w="12700">
            <a:solidFill>
              <a:srgbClr val="EEE2C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" y="3127248"/>
            <a:ext cx="384048" cy="384048"/>
          </a:xfrm>
          <a:prstGeom prst="ellipse">
            <a:avLst/>
          </a:prstGeom>
          <a:solidFill>
            <a:srgbClr val="231712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" y="3108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3232" y="3602736"/>
            <a:ext cx="2368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Version Gate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13232" y="3904488"/>
            <a:ext cx="23682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projects below Java 11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37560" y="2962656"/>
            <a:ext cx="2697480" cy="1417320"/>
          </a:xfrm>
          <a:prstGeom prst="roundRect">
            <a:avLst>
              <a:gd name="adj" fmla="val 3871"/>
            </a:avLst>
          </a:prstGeom>
          <a:solidFill>
            <a:srgbClr val="FBF7F1"/>
          </a:solidFill>
          <a:ln w="12700">
            <a:solidFill>
              <a:srgbClr val="EEE2C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02152" y="3127248"/>
            <a:ext cx="384048" cy="384048"/>
          </a:xfrm>
          <a:prstGeom prst="ellipse">
            <a:avLst/>
          </a:prstGeom>
          <a:solidFill>
            <a:srgbClr val="231712"/>
          </a:solidFill>
          <a:ln/>
        </p:spPr>
      </p:sp>
      <p:sp>
        <p:nvSpPr>
          <p:cNvPr id="33" name="Text 31"/>
          <p:cNvSpPr/>
          <p:nvPr/>
        </p:nvSpPr>
        <p:spPr>
          <a:xfrm>
            <a:off x="3502152" y="3108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502152" y="3602736"/>
            <a:ext cx="2368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9-Section Assessment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502152" y="3904488"/>
            <a:ext cx="23682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Deps, Java, Spring Boot, code, plugins, DB, Docker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26480" y="2962656"/>
            <a:ext cx="2697480" cy="1417320"/>
          </a:xfrm>
          <a:prstGeom prst="roundRect">
            <a:avLst>
              <a:gd name="adj" fmla="val 3871"/>
            </a:avLst>
          </a:prstGeom>
          <a:solidFill>
            <a:srgbClr val="FBF7F1"/>
          </a:solidFill>
          <a:ln w="12700">
            <a:solidFill>
              <a:srgbClr val="EEE2C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91072" y="3127248"/>
            <a:ext cx="384048" cy="384048"/>
          </a:xfrm>
          <a:prstGeom prst="ellipse">
            <a:avLst/>
          </a:prstGeom>
          <a:solidFill>
            <a:srgbClr val="231712"/>
          </a:solidFill>
          <a:ln/>
        </p:spPr>
      </p:sp>
      <p:sp>
        <p:nvSpPr>
          <p:cNvPr id="38" name="Text 36"/>
          <p:cNvSpPr/>
          <p:nvPr/>
        </p:nvSpPr>
        <p:spPr>
          <a:xfrm>
            <a:off x="6291072" y="3108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291072" y="3602736"/>
            <a:ext cx="2368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Dependency Resolution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291072" y="3904488"/>
            <a:ext cx="23682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Maven Central for every version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915400" y="2962656"/>
            <a:ext cx="2697480" cy="1417320"/>
          </a:xfrm>
          <a:prstGeom prst="roundRect">
            <a:avLst>
              <a:gd name="adj" fmla="val 3871"/>
            </a:avLst>
          </a:prstGeom>
          <a:solidFill>
            <a:srgbClr val="FBF7F1"/>
          </a:solidFill>
          <a:ln w="12700">
            <a:solidFill>
              <a:srgbClr val="EEE2C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079992" y="3127248"/>
            <a:ext cx="384048" cy="384048"/>
          </a:xfrm>
          <a:prstGeom prst="ellipse">
            <a:avLst/>
          </a:prstGeom>
          <a:solidFill>
            <a:srgbClr val="231712"/>
          </a:solidFill>
          <a:ln/>
        </p:spPr>
      </p:sp>
      <p:sp>
        <p:nvSpPr>
          <p:cNvPr id="43" name="Text 41"/>
          <p:cNvSpPr/>
          <p:nvPr/>
        </p:nvSpPr>
        <p:spPr>
          <a:xfrm>
            <a:off x="9079992" y="3108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079992" y="3602736"/>
            <a:ext cx="2368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pom.xml Auto-Update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9079992" y="3904488"/>
            <a:ext cx="23682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version, parent, plugins, dependencies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8640" y="4507992"/>
            <a:ext cx="2697480" cy="1417320"/>
          </a:xfrm>
          <a:prstGeom prst="roundRect">
            <a:avLst>
              <a:gd name="adj" fmla="val 3871"/>
            </a:avLst>
          </a:prstGeom>
          <a:solidFill>
            <a:srgbClr val="FBF7F1"/>
          </a:solidFill>
          <a:ln w="12700">
            <a:solidFill>
              <a:srgbClr val="EEE2C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3232" y="4672584"/>
            <a:ext cx="384048" cy="384048"/>
          </a:xfrm>
          <a:prstGeom prst="ellipse">
            <a:avLst/>
          </a:prstGeom>
          <a:solidFill>
            <a:srgbClr val="231712"/>
          </a:solidFill>
          <a:ln/>
        </p:spPr>
      </p:sp>
      <p:sp>
        <p:nvSpPr>
          <p:cNvPr id="48" name="Text 46"/>
          <p:cNvSpPr/>
          <p:nvPr/>
        </p:nvSpPr>
        <p:spPr>
          <a:xfrm>
            <a:off x="713232" y="46542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13232" y="5148072"/>
            <a:ext cx="2368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Refactoring Rules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713232" y="5449824"/>
            <a:ext cx="23682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precisely across all .java files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337560" y="4507992"/>
            <a:ext cx="2697480" cy="1417320"/>
          </a:xfrm>
          <a:prstGeom prst="roundRect">
            <a:avLst>
              <a:gd name="adj" fmla="val 3871"/>
            </a:avLst>
          </a:prstGeom>
          <a:solidFill>
            <a:srgbClr val="FBF7F1"/>
          </a:solidFill>
          <a:ln w="12700">
            <a:solidFill>
              <a:srgbClr val="EEE2C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502152" y="4672584"/>
            <a:ext cx="384048" cy="384048"/>
          </a:xfrm>
          <a:prstGeom prst="ellipse">
            <a:avLst/>
          </a:prstGeom>
          <a:solidFill>
            <a:srgbClr val="231712"/>
          </a:solidFill>
          <a:ln/>
        </p:spPr>
      </p:sp>
      <p:sp>
        <p:nvSpPr>
          <p:cNvPr id="53" name="Text 51"/>
          <p:cNvSpPr/>
          <p:nvPr/>
        </p:nvSpPr>
        <p:spPr>
          <a:xfrm>
            <a:off x="3502152" y="46542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3502152" y="5148072"/>
            <a:ext cx="2368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javax → jakarta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3502152" y="5449824"/>
            <a:ext cx="23682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 Jakarta EE namespaces migrated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26480" y="4507992"/>
            <a:ext cx="2697480" cy="1417320"/>
          </a:xfrm>
          <a:prstGeom prst="roundRect">
            <a:avLst>
              <a:gd name="adj" fmla="val 3871"/>
            </a:avLst>
          </a:prstGeom>
          <a:solidFill>
            <a:srgbClr val="FBF7F1"/>
          </a:solidFill>
          <a:ln w="12700">
            <a:solidFill>
              <a:srgbClr val="EEE2C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91072" y="4672584"/>
            <a:ext cx="384048" cy="384048"/>
          </a:xfrm>
          <a:prstGeom prst="ellipse">
            <a:avLst/>
          </a:prstGeom>
          <a:solidFill>
            <a:srgbClr val="231712"/>
          </a:solidFill>
          <a:ln/>
        </p:spPr>
      </p:sp>
      <p:sp>
        <p:nvSpPr>
          <p:cNvPr id="58" name="Text 56"/>
          <p:cNvSpPr/>
          <p:nvPr/>
        </p:nvSpPr>
        <p:spPr>
          <a:xfrm>
            <a:off x="6291072" y="46542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291072" y="5148072"/>
            <a:ext cx="2368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6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6291072" y="5449824"/>
            <a:ext cx="23682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WebSecurityConfigurerAdapter safely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915400" y="4507992"/>
            <a:ext cx="2697480" cy="1417320"/>
          </a:xfrm>
          <a:prstGeom prst="roundRect">
            <a:avLst>
              <a:gd name="adj" fmla="val 3871"/>
            </a:avLst>
          </a:prstGeom>
          <a:solidFill>
            <a:srgbClr val="FBF7F1"/>
          </a:solidFill>
          <a:ln w="12700">
            <a:solidFill>
              <a:srgbClr val="EEE2C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079992" y="4672584"/>
            <a:ext cx="384048" cy="384048"/>
          </a:xfrm>
          <a:prstGeom prst="ellipse">
            <a:avLst/>
          </a:prstGeom>
          <a:solidFill>
            <a:srgbClr val="231712"/>
          </a:solidFill>
          <a:ln/>
        </p:spPr>
      </p:sp>
      <p:sp>
        <p:nvSpPr>
          <p:cNvPr id="63" name="Text 61"/>
          <p:cNvSpPr/>
          <p:nvPr/>
        </p:nvSpPr>
        <p:spPr>
          <a:xfrm>
            <a:off x="9079992" y="46542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079992" y="5148072"/>
            <a:ext cx="2368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4 → JUnit 5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9079992" y="5449824"/>
            <a:ext cx="23682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Annotations, imports, Assert → Assertions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 more: backups, HTML change reports, DB driver &amp; Docker detection, workspace isolation, health checks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Tech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A9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—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6510528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9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Java Migration Assistant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615440" cy="960120"/>
          </a:xfrm>
          <a:prstGeom prst="roundRect">
            <a:avLst>
              <a:gd name="adj" fmla="val 6667"/>
            </a:avLst>
          </a:prstGeom>
          <a:solidFill>
            <a:srgbClr val="3A2A1F"/>
          </a:solidFill>
          <a:ln w="15875">
            <a:solidFill>
              <a:srgbClr val="ED8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17320"/>
            <a:ext cx="1524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Upload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64080" y="1417320"/>
            <a:ext cx="182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346960" y="1417320"/>
            <a:ext cx="1615440" cy="960120"/>
          </a:xfrm>
          <a:prstGeom prst="roundRect">
            <a:avLst>
              <a:gd name="adj" fmla="val 6667"/>
            </a:avLst>
          </a:prstGeom>
          <a:solidFill>
            <a:srgbClr val="3A2A1F"/>
          </a:solidFill>
          <a:ln w="15875">
            <a:solidFill>
              <a:srgbClr val="ED8B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92680" y="1417320"/>
            <a:ext cx="1524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62400" y="1417320"/>
            <a:ext cx="182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45280" y="1417320"/>
            <a:ext cx="1615440" cy="960120"/>
          </a:xfrm>
          <a:prstGeom prst="roundRect">
            <a:avLst>
              <a:gd name="adj" fmla="val 6667"/>
            </a:avLst>
          </a:prstGeom>
          <a:solidFill>
            <a:srgbClr val="3A2A1F"/>
          </a:solidFill>
          <a:ln w="15875">
            <a:solidFill>
              <a:srgbClr val="ED8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91000" y="1417320"/>
            <a:ext cx="1524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Assessment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60720" y="1417320"/>
            <a:ext cx="182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0" y="1417320"/>
            <a:ext cx="1615440" cy="960120"/>
          </a:xfrm>
          <a:prstGeom prst="roundRect">
            <a:avLst>
              <a:gd name="adj" fmla="val 6667"/>
            </a:avLst>
          </a:prstGeom>
          <a:solidFill>
            <a:srgbClr val="3A2A1F"/>
          </a:solidFill>
          <a:ln w="15875">
            <a:solidFill>
              <a:srgbClr val="ED8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1417320"/>
            <a:ext cx="1524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Central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559040" y="1417320"/>
            <a:ext cx="182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41920" y="1417320"/>
            <a:ext cx="1615440" cy="960120"/>
          </a:xfrm>
          <a:prstGeom prst="roundRect">
            <a:avLst>
              <a:gd name="adj" fmla="val 6667"/>
            </a:avLst>
          </a:prstGeom>
          <a:solidFill>
            <a:srgbClr val="3A2A1F"/>
          </a:solidFill>
          <a:ln w="15875">
            <a:solidFill>
              <a:srgbClr val="ED8B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87640" y="1417320"/>
            <a:ext cx="1524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57360" y="1417320"/>
            <a:ext cx="182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540240" y="1417320"/>
            <a:ext cx="1615440" cy="960120"/>
          </a:xfrm>
          <a:prstGeom prst="roundRect">
            <a:avLst>
              <a:gd name="adj" fmla="val 6667"/>
            </a:avLst>
          </a:prstGeom>
          <a:solidFill>
            <a:srgbClr val="3A2A1F"/>
          </a:solidFill>
          <a:ln w="15875">
            <a:solidFill>
              <a:srgbClr val="ED8B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85960" y="1417320"/>
            <a:ext cx="1524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78892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2A1D15"/>
          </a:solidFill>
          <a:ln w="12700">
            <a:solidFill>
              <a:srgbClr val="4A37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2953512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3232" y="344728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00" dirty="0">
                <a:solidFill>
                  <a:srgbClr val="F1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3.12+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3232" y="395020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00" dirty="0">
                <a:solidFill>
                  <a:srgbClr val="F1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0.115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3232" y="445312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00" dirty="0">
                <a:solidFill>
                  <a:srgbClr val="F1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37560" y="278892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2A1D15"/>
          </a:solidFill>
          <a:ln w="12700">
            <a:solidFill>
              <a:srgbClr val="4A37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02152" y="2953512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Analysis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02152" y="344728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00" dirty="0">
                <a:solidFill>
                  <a:srgbClr val="F1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502152" y="395020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00" dirty="0">
                <a:solidFill>
                  <a:srgbClr val="F1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rule engine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502152" y="445312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00" dirty="0">
                <a:solidFill>
                  <a:srgbClr val="F1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26480" y="278892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2A1D15"/>
          </a:solidFill>
          <a:ln w="12700">
            <a:solidFill>
              <a:srgbClr val="4A37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91072" y="2953512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Target Stack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91072" y="344728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00" dirty="0">
                <a:solidFill>
                  <a:srgbClr val="F1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(LTS)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91072" y="395020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00" dirty="0">
                <a:solidFill>
                  <a:srgbClr val="F1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3.3.4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91072" y="445312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00" dirty="0">
                <a:solidFill>
                  <a:srgbClr val="F1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EE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915400" y="278892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2A1D15"/>
          </a:solidFill>
          <a:ln w="12700">
            <a:solidFill>
              <a:srgbClr val="4A372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79992" y="2953512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Data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079992" y="344728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00" dirty="0">
                <a:solidFill>
                  <a:srgbClr val="F1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Central API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079992" y="395020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00" dirty="0">
                <a:solidFill>
                  <a:srgbClr val="F1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support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079992" y="445312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00" dirty="0">
                <a:solidFill>
                  <a:srgbClr val="F1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reporting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 API Surface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upload — a full pipeline from assessment through build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— API Overview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510528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Java Migration Assistant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66344" y="1335024"/>
            <a:ext cx="6153912" cy="5056632"/>
          </a:xfrm>
          <a:prstGeom prst="roundRect">
            <a:avLst>
              <a:gd name="adj" fmla="val 1447"/>
            </a:avLst>
          </a:prstGeom>
          <a:solidFill>
            <a:srgbClr val="FFFFFF"/>
          </a:solidFill>
          <a:ln w="12700">
            <a:solidFill>
              <a:srgbClr val="DDD2C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pic>
        <p:nvPicPr>
          <p:cNvPr id="7" name="Image 0" descr="/mnt/user-data/uploads/Java-migration-main-page_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5989320" cy="4892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720840" y="1417320"/>
            <a:ext cx="4937760" cy="868680"/>
          </a:xfrm>
          <a:prstGeom prst="roundRect">
            <a:avLst>
              <a:gd name="adj" fmla="val 6316"/>
            </a:avLst>
          </a:prstGeom>
          <a:solidFill>
            <a:srgbClr val="FBF7F1"/>
          </a:solidFill>
          <a:ln w="12700">
            <a:solidFill>
              <a:srgbClr val="EEE2C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85432" y="1632204"/>
            <a:ext cx="438912" cy="438912"/>
          </a:xfrm>
          <a:prstGeom prst="ellipse">
            <a:avLst/>
          </a:prstGeom>
          <a:solidFill>
            <a:srgbClr val="231712"/>
          </a:solidFill>
          <a:ln/>
        </p:spPr>
      </p:sp>
      <p:sp>
        <p:nvSpPr>
          <p:cNvPr id="10" name="Text 7"/>
          <p:cNvSpPr/>
          <p:nvPr/>
        </p:nvSpPr>
        <p:spPr>
          <a:xfrm>
            <a:off x="6885432" y="16139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452360" y="154533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pPr indent="0" marL="0">
              <a:buNone/>
            </a:pPr>
            <a:r>
              <a:rPr lang="en-US" sz="1050" i="1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 routes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452360" y="183794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3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a project, or delete its workspace when done.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720840" y="2423160"/>
            <a:ext cx="4937760" cy="868680"/>
          </a:xfrm>
          <a:prstGeom prst="roundRect">
            <a:avLst>
              <a:gd name="adj" fmla="val 6316"/>
            </a:avLst>
          </a:prstGeom>
          <a:solidFill>
            <a:srgbClr val="FBF7F1"/>
          </a:solidFill>
          <a:ln w="12700">
            <a:solidFill>
              <a:srgbClr val="EEE2C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85432" y="2638044"/>
            <a:ext cx="438912" cy="438912"/>
          </a:xfrm>
          <a:prstGeom prst="ellipse">
            <a:avLst/>
          </a:prstGeom>
          <a:solidFill>
            <a:srgbClr val="231712"/>
          </a:solidFill>
          <a:ln/>
        </p:spPr>
      </p:sp>
      <p:sp>
        <p:nvSpPr>
          <p:cNvPr id="15" name="Text 12"/>
          <p:cNvSpPr/>
          <p:nvPr/>
        </p:nvSpPr>
        <p:spPr>
          <a:xfrm>
            <a:off x="6885432" y="26197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452360" y="255117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pPr indent="0" marL="0">
              <a:buNone/>
            </a:pPr>
            <a:r>
              <a:rPr lang="en-US" sz="1050" i="1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 routes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7452360" y="284378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3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the structured assessment or its HTML report.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720840" y="3429000"/>
            <a:ext cx="4937760" cy="868680"/>
          </a:xfrm>
          <a:prstGeom prst="roundRect">
            <a:avLst>
              <a:gd name="adj" fmla="val 6316"/>
            </a:avLst>
          </a:prstGeom>
          <a:solidFill>
            <a:srgbClr val="FBF7F1"/>
          </a:solidFill>
          <a:ln w="12700">
            <a:solidFill>
              <a:srgbClr val="EEE2C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85432" y="3643884"/>
            <a:ext cx="438912" cy="438912"/>
          </a:xfrm>
          <a:prstGeom prst="ellipse">
            <a:avLst/>
          </a:prstGeom>
          <a:solidFill>
            <a:srgbClr val="231712"/>
          </a:solidFill>
          <a:ln/>
        </p:spPr>
      </p:sp>
      <p:sp>
        <p:nvSpPr>
          <p:cNvPr id="20" name="Text 17"/>
          <p:cNvSpPr/>
          <p:nvPr/>
        </p:nvSpPr>
        <p:spPr>
          <a:xfrm>
            <a:off x="6885432" y="362559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452360" y="35570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pPr indent="0" marL="0">
              <a:buNone/>
            </a:pPr>
            <a:r>
              <a:rPr lang="en-US" sz="1050" i="1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 routes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7452360" y="384962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3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automated refactor and check its summary.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720840" y="4434840"/>
            <a:ext cx="4937760" cy="868680"/>
          </a:xfrm>
          <a:prstGeom prst="roundRect">
            <a:avLst>
              <a:gd name="adj" fmla="val 6316"/>
            </a:avLst>
          </a:prstGeom>
          <a:solidFill>
            <a:srgbClr val="FBF7F1"/>
          </a:solidFill>
          <a:ln w="12700">
            <a:solidFill>
              <a:srgbClr val="EEE2C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885432" y="4649724"/>
            <a:ext cx="438912" cy="438912"/>
          </a:xfrm>
          <a:prstGeom prst="ellipse">
            <a:avLst/>
          </a:prstGeom>
          <a:solidFill>
            <a:srgbClr val="231712"/>
          </a:solidFill>
          <a:ln/>
        </p:spPr>
      </p:sp>
      <p:sp>
        <p:nvSpPr>
          <p:cNvPr id="25" name="Text 22"/>
          <p:cNvSpPr/>
          <p:nvPr/>
        </p:nvSpPr>
        <p:spPr>
          <a:xfrm>
            <a:off x="6885432" y="46314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452360" y="456285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pPr indent="0" marL="0">
              <a:buNone/>
            </a:pPr>
            <a:r>
              <a:rPr lang="en-US" sz="1050" i="1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3 routes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7452360" y="485546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3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the migrated project; inspect attempts and logs.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720840" y="5440680"/>
            <a:ext cx="4937760" cy="868680"/>
          </a:xfrm>
          <a:prstGeom prst="roundRect">
            <a:avLst>
              <a:gd name="adj" fmla="val 6316"/>
            </a:avLst>
          </a:prstGeom>
          <a:solidFill>
            <a:srgbClr val="FBF7F1"/>
          </a:solidFill>
          <a:ln w="12700">
            <a:solidFill>
              <a:srgbClr val="EEE2C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885432" y="5655564"/>
            <a:ext cx="438912" cy="438912"/>
          </a:xfrm>
          <a:prstGeom prst="ellipse">
            <a:avLst/>
          </a:prstGeom>
          <a:solidFill>
            <a:srgbClr val="231712"/>
          </a:solidFill>
          <a:ln/>
        </p:spPr>
      </p:sp>
      <p:sp>
        <p:nvSpPr>
          <p:cNvPr id="30" name="Text 27"/>
          <p:cNvSpPr/>
          <p:nvPr/>
        </p:nvSpPr>
        <p:spPr>
          <a:xfrm>
            <a:off x="6885432" y="56372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452360" y="556869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pPr indent="0" marL="0">
              <a:buNone/>
            </a:pPr>
            <a:r>
              <a:rPr lang="en-US" sz="1050" i="1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 route</a:t>
            </a:r>
            <a:endParaRPr 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7452360" y="586130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3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liveness endpoint for uptime monitoring.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— Swagger API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file ingestion — POST /upload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— Demo: Upload (1/2)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510528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Java Migration Assistant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698480" y="384048"/>
            <a:ext cx="457200" cy="457200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7" name="Text 5"/>
          <p:cNvSpPr/>
          <p:nvPr/>
        </p:nvSpPr>
        <p:spPr>
          <a:xfrm>
            <a:off x="1069848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57784" y="1335024"/>
            <a:ext cx="6473952" cy="3182112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DD2C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pic>
        <p:nvPicPr>
          <p:cNvPr id="9" name="Image 0" descr="/mnt/user-data/uploads/1784459984607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17320"/>
            <a:ext cx="6309360" cy="3017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269480" y="1691640"/>
            <a:ext cx="4434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auto-generated OpenAPI docs expose a single POST /upload endpoint. Selecting “Try it out” opens the live request form.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0698480" y="3063240"/>
            <a:ext cx="457200" cy="457200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12" name="Text 9"/>
          <p:cNvSpPr/>
          <p:nvPr/>
        </p:nvSpPr>
        <p:spPr>
          <a:xfrm>
            <a:off x="10698480" y="3044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57784" y="4078224"/>
            <a:ext cx="6473952" cy="2267712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DD2C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pic>
        <p:nvPicPr>
          <p:cNvPr id="14" name="Image 1" descr="/mnt/user-data/uploads/1784459990468_ima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" y="4160520"/>
            <a:ext cx="6309360" cy="21031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434840"/>
            <a:ext cx="4434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 project ZIP is chosen and submitted. The API validates the archive before extracting it into an isolated workspace.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— Instant Assessment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Employee-Attandance.zip → detected, validated, and extracted in seconds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— Demo: Upload (2/2)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510528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Java Migration Assistant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57784" y="1335024"/>
            <a:ext cx="6291072" cy="4325112"/>
          </a:xfrm>
          <a:prstGeom prst="roundRect">
            <a:avLst>
              <a:gd name="adj" fmla="val 1691"/>
            </a:avLst>
          </a:prstGeom>
          <a:solidFill>
            <a:srgbClr val="FFFFFF"/>
          </a:solidFill>
          <a:ln w="12700">
            <a:solidFill>
              <a:srgbClr val="DDD2C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pic>
        <p:nvPicPr>
          <p:cNvPr id="7" name="Image 0" descr="/mnt/user-data/uploads/1784459996304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17320"/>
            <a:ext cx="6126480" cy="4160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86600" y="1417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Highlights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086600" y="1920240"/>
            <a:ext cx="4572000" cy="658368"/>
          </a:xfrm>
          <a:prstGeom prst="roundRect">
            <a:avLst>
              <a:gd name="adj" fmla="val 8333"/>
            </a:avLst>
          </a:prstGeom>
          <a:solidFill>
            <a:srgbClr val="FBF7F1"/>
          </a:solidFill>
          <a:ln w="12700">
            <a:solidFill>
              <a:srgbClr val="EEE2C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69480" y="1920240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8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maven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915400" y="192024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 detected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086600" y="2706624"/>
            <a:ext cx="4572000" cy="658368"/>
          </a:xfrm>
          <a:prstGeom prst="roundRect">
            <a:avLst>
              <a:gd name="adj" fmla="val 8333"/>
            </a:avLst>
          </a:prstGeom>
          <a:solidFill>
            <a:srgbClr val="FBF7F1"/>
          </a:solidFill>
          <a:ln w="12700">
            <a:solidFill>
              <a:srgbClr val="EEE2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69480" y="2706624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8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11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915400" y="2706624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version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086600" y="3493008"/>
            <a:ext cx="4572000" cy="658368"/>
          </a:xfrm>
          <a:prstGeom prst="roundRect">
            <a:avLst>
              <a:gd name="adj" fmla="val 8333"/>
            </a:avLst>
          </a:prstGeom>
          <a:solidFill>
            <a:srgbClr val="FBF7F1"/>
          </a:solidFill>
          <a:ln w="12700">
            <a:solidFill>
              <a:srgbClr val="EEE2C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269480" y="3493008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8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files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915400" y="349300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into workspace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086600" y="4279392"/>
            <a:ext cx="4572000" cy="658368"/>
          </a:xfrm>
          <a:prstGeom prst="roundRect">
            <a:avLst>
              <a:gd name="adj" fmla="val 8333"/>
            </a:avLst>
          </a:prstGeom>
          <a:solidFill>
            <a:srgbClr val="FBF7F1"/>
          </a:solidFill>
          <a:ln w="12700">
            <a:solidFill>
              <a:srgbClr val="EEE2C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69480" y="4279392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8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OK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915400" y="4279392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successful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086600" y="51206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upload gets a UUID-isolated workspace on disk, ready for the assessment and refactoring phases.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— Assessment API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/assessment/{project_id} — run the full migration assessment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 — Demo: Assessment (1/2)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510528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Java Migration Assistant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698480" y="384048"/>
            <a:ext cx="457200" cy="457200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7" name="Text 5"/>
          <p:cNvSpPr/>
          <p:nvPr/>
        </p:nvSpPr>
        <p:spPr>
          <a:xfrm>
            <a:off x="1069848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57784" y="1335024"/>
            <a:ext cx="6473952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DDD2C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pic>
        <p:nvPicPr>
          <p:cNvPr id="9" name="Image 0" descr="/mnt/user-data/uploads/1784460654966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17320"/>
            <a:ext cx="6309360" cy="2011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269480" y="1600200"/>
            <a:ext cx="4434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GET /assessment/{project_id}, select “Try it out”, and paste in the workspace ID returned by the upload step.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0698480" y="3657600"/>
            <a:ext cx="457200" cy="457200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12" name="Text 9"/>
          <p:cNvSpPr/>
          <p:nvPr/>
        </p:nvSpPr>
        <p:spPr>
          <a:xfrm>
            <a:off x="10698480" y="3639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57784" y="3621024"/>
            <a:ext cx="6473952" cy="2130552"/>
          </a:xfrm>
          <a:prstGeom prst="roundRect">
            <a:avLst>
              <a:gd name="adj" fmla="val 3433"/>
            </a:avLst>
          </a:prstGeom>
          <a:solidFill>
            <a:srgbClr val="FFFFFF"/>
          </a:solidFill>
          <a:ln w="12700">
            <a:solidFill>
              <a:srgbClr val="DDD2C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pic>
        <p:nvPicPr>
          <p:cNvPr id="14" name="Image 1" descr="/mnt/user-data/uploads/1784460629347_ima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" y="3703320"/>
            <a:ext cx="6309360" cy="19659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3886200"/>
            <a:ext cx="4434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project_id filled in, hit “Execute” to trigger the full 9-section AI-powered assessment.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269480" y="5029200"/>
            <a:ext cx="4434840" cy="1051560"/>
          </a:xfrm>
          <a:prstGeom prst="roundRect">
            <a:avLst>
              <a:gd name="adj" fmla="val 6087"/>
            </a:avLst>
          </a:prstGeom>
          <a:solidFill>
            <a:srgbClr val="FBF7F1"/>
          </a:solidFill>
          <a:ln w="12700">
            <a:solidFill>
              <a:srgbClr val="EEE2C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452360" y="51206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project_id come from?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7452360" y="5413248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the workspace_id from the /upload response — the same UUID folder created on disk for that project.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— Assessment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employee-attendance → a complete, structured migration assessment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 — Demo: Assessment (2/2)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510528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Java Migration Assistant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57784" y="1335024"/>
            <a:ext cx="6291072" cy="4325112"/>
          </a:xfrm>
          <a:prstGeom prst="roundRect">
            <a:avLst>
              <a:gd name="adj" fmla="val 1691"/>
            </a:avLst>
          </a:prstGeom>
          <a:solidFill>
            <a:srgbClr val="FFFFFF"/>
          </a:solidFill>
          <a:ln w="12700">
            <a:solidFill>
              <a:srgbClr val="DDD2C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pic>
        <p:nvPicPr>
          <p:cNvPr id="7" name="Image 0" descr="/mnt/user-data/uploads/1784460625877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17320"/>
            <a:ext cx="6126480" cy="4160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86600" y="1417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Highlights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086600" y="1874520"/>
            <a:ext cx="4572000" cy="566928"/>
          </a:xfrm>
          <a:prstGeom prst="roundRect">
            <a:avLst>
              <a:gd name="adj" fmla="val 9677"/>
            </a:avLst>
          </a:prstGeom>
          <a:solidFill>
            <a:srgbClr val="FBF7F1"/>
          </a:solidFill>
          <a:ln w="12700">
            <a:solidFill>
              <a:srgbClr val="EEE2C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69480" y="187452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8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11 → 21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006840" y="187452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— a multi-version jump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086600" y="2551176"/>
            <a:ext cx="4572000" cy="566928"/>
          </a:xfrm>
          <a:prstGeom prst="roundRect">
            <a:avLst>
              <a:gd name="adj" fmla="val 9677"/>
            </a:avLst>
          </a:prstGeom>
          <a:solidFill>
            <a:srgbClr val="FBF7F1"/>
          </a:solidFill>
          <a:ln w="12700">
            <a:solidFill>
              <a:srgbClr val="EEE2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69480" y="2551176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8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files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006840" y="255117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source files scanned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086600" y="3227832"/>
            <a:ext cx="4572000" cy="566928"/>
          </a:xfrm>
          <a:prstGeom prst="roundRect">
            <a:avLst>
              <a:gd name="adj" fmla="val 9677"/>
            </a:avLst>
          </a:prstGeom>
          <a:solidFill>
            <a:srgbClr val="FBF7F1"/>
          </a:solidFill>
          <a:ln w="12700">
            <a:solidFill>
              <a:srgbClr val="EEE2C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269480" y="322783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8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 imports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006840" y="322783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imports affected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086600" y="3904488"/>
            <a:ext cx="4572000" cy="566928"/>
          </a:xfrm>
          <a:prstGeom prst="roundRect">
            <a:avLst>
              <a:gd name="adj" fmla="val 9677"/>
            </a:avLst>
          </a:prstGeom>
          <a:solidFill>
            <a:srgbClr val="FBF7F1"/>
          </a:solidFill>
          <a:ln w="12700">
            <a:solidFill>
              <a:srgbClr val="EEE2C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69480" y="390448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8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dependency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006840" y="390448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upgrade (JUnit 5.10.0 → 5.10.3)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086600" y="4581144"/>
            <a:ext cx="4572000" cy="566928"/>
          </a:xfrm>
          <a:prstGeom prst="roundRect">
            <a:avLst>
              <a:gd name="adj" fmla="val 9677"/>
            </a:avLst>
          </a:prstGeom>
          <a:solidFill>
            <a:srgbClr val="FBF7F1"/>
          </a:solidFill>
          <a:ln w="12700">
            <a:solidFill>
              <a:srgbClr val="EEE2C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269480" y="4581144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8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006840" y="4581144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migration complexity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086600" y="53492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 also flags Spring Boot 3 breaking changes, build-plugin updates, and Docker readiness — with a full HTML report at report_url.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3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Reliability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typed API contract with clear success and validation paths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A9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 — Reliability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510528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9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Java Migration Assistant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57784" y="1426464"/>
            <a:ext cx="6016752" cy="4370832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12700">
            <a:solidFill>
              <a:srgbClr val="DDD2C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pic>
        <p:nvPicPr>
          <p:cNvPr id="7" name="Image 0" descr="/mnt/user-data/uploads/1784460002210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08760"/>
            <a:ext cx="5852160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0372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— Successful Response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903720" y="20574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9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workspace ID, detected build tool, Java version, extraction path, and file count — everything downstream phases need.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903720" y="3246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422 — Validation Error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903720" y="36576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9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archives, missing build files, or unsupported Java versions fail fast with a structured, per-field error detail.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903720" y="4754880"/>
            <a:ext cx="4754880" cy="868680"/>
          </a:xfrm>
          <a:prstGeom prst="roundRect">
            <a:avLst>
              <a:gd name="adj" fmla="val 7368"/>
            </a:avLst>
          </a:prstGeom>
          <a:solidFill>
            <a:srgbClr val="3A2A1F"/>
          </a:solidFill>
          <a:ln w="12700">
            <a:solidFill>
              <a:srgbClr val="ED8B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86600" y="475488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F1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pre-migration backups, path-traversal-safe workspace deletion, and a /health liveness endpoint.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ships next after the current phase-1 assessment &amp; refactor pipeline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— Roadmap &amp; Closing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510528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Java Migration Assistant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606040" cy="2103120"/>
          </a:xfrm>
          <a:prstGeom prst="roundRect">
            <a:avLst>
              <a:gd name="adj" fmla="val 3043"/>
            </a:avLst>
          </a:prstGeom>
          <a:solidFill>
            <a:srgbClr val="FBF7F1"/>
          </a:solidFill>
          <a:ln w="12700">
            <a:solidFill>
              <a:srgbClr val="EEE2C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83080"/>
            <a:ext cx="411480" cy="411480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647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3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 Generation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pull request with the migrated code, ready for review.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3280" y="1600200"/>
            <a:ext cx="2606040" cy="2103120"/>
          </a:xfrm>
          <a:prstGeom prst="roundRect">
            <a:avLst>
              <a:gd name="adj" fmla="val 3043"/>
            </a:avLst>
          </a:prstGeom>
          <a:solidFill>
            <a:srgbClr val="FBF7F1"/>
          </a:solidFill>
          <a:ln w="12700">
            <a:solidFill>
              <a:srgbClr val="EEE2C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6160" y="1783080"/>
            <a:ext cx="411480" cy="411480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17647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23774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3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Integration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28803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assessments automatically on every push or pull request.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600200"/>
            <a:ext cx="2606040" cy="2103120"/>
          </a:xfrm>
          <a:prstGeom prst="roundRect">
            <a:avLst>
              <a:gd name="adj" fmla="val 3043"/>
            </a:avLst>
          </a:prstGeom>
          <a:solidFill>
            <a:srgbClr val="FBF7F1"/>
          </a:solidFill>
          <a:ln w="12700">
            <a:solidFill>
              <a:srgbClr val="EEE2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783080"/>
            <a:ext cx="411480" cy="411480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7647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23774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3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Multi-Module Support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28803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refactoring rules across multi-module Maven/Gradle builds.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52560" y="1600200"/>
            <a:ext cx="2606040" cy="2103120"/>
          </a:xfrm>
          <a:prstGeom prst="roundRect">
            <a:avLst>
              <a:gd name="adj" fmla="val 3043"/>
            </a:avLst>
          </a:prstGeom>
          <a:solidFill>
            <a:srgbClr val="FBF7F1"/>
          </a:solidFill>
          <a:ln w="12700">
            <a:solidFill>
              <a:srgbClr val="EEE2C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35440" y="1783080"/>
            <a:ext cx="411480" cy="411480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23" name="Text 21"/>
          <p:cNvSpPr/>
          <p:nvPr/>
        </p:nvSpPr>
        <p:spPr>
          <a:xfrm>
            <a:off x="9235440" y="17647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35440" y="23774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3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Rule Editor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35440" y="28803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teams customize or add their own transformation rules.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160520"/>
            <a:ext cx="11091672" cy="1691640"/>
          </a:xfrm>
          <a:prstGeom prst="roundRect">
            <a:avLst>
              <a:gd name="adj" fmla="val 4324"/>
            </a:avLst>
          </a:prstGeom>
          <a:solidFill>
            <a:srgbClr val="231712"/>
          </a:solidFill>
          <a:ln/>
        </p:spPr>
      </p:sp>
      <p:sp>
        <p:nvSpPr>
          <p:cNvPr id="27" name="Shape 25"/>
          <p:cNvSpPr/>
          <p:nvPr/>
        </p:nvSpPr>
        <p:spPr>
          <a:xfrm>
            <a:off x="914400" y="4526280"/>
            <a:ext cx="640080" cy="640080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5079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1828800" y="443484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ZIP to Java 21 — automatically.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828800" y="489204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9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research. No missed imports. No forgotten dependencies. Full audit trail, every time.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2026-07-19T11:33:42Z</dcterms:created>
  <dcterms:modified xsi:type="dcterms:W3CDTF">2026-07-19T11:33:42Z</dcterms:modified>
</cp:coreProperties>
</file>